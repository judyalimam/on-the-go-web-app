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embeddedFontLst>
    <p:embeddedFont>
      <p:font typeface="Lato" panose="020F0502020204030203" pitchFamily="34" charset="0"/>
      <p:regular r:id="rId22"/>
      <p:bold r:id="rId23"/>
      <p:italic r:id="rId24"/>
      <p:boldItalic r:id="rId25"/>
    </p:embeddedFont>
    <p:embeddedFont>
      <p:font typeface="Raleway" pitchFamily="2" charset="0"/>
      <p:regular r:id="rId26"/>
      <p:bold r:id="rId27"/>
      <p:italic r:id="rId28"/>
      <p:boldItalic r:id="rId29"/>
    </p:embeddedFont>
    <p:embeddedFont>
      <p:font typeface="Roboto" panose="020000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820" y="5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21" Type="http://schemas.openxmlformats.org/officeDocument/2006/relationships/notesMaster" Target="notesMasters/notesMaster1.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cb9a0b074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cb9a0b07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d5b15f0a3_5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d5b15f0a3_5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723630543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723630543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d251bb473_0_6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d251bb473_0_6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d251bb473_0_6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d251bb473_0_6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e965474a9_3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e965474a9_3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cb9a0b074_1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cb9a0b074_1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cb9a0b074_1_12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cb9a0b074_1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723630543_1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723630543_1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723630543_5_2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723630543_5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e965474a9_3_37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e965474a9_3_3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e965474a9_3_3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e965474a9_3_3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cb9a0b074_1_1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cb9a0b074_1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cb9a0b074_1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cb9a0b074_1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cb9a0b074_1_1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cb9a0b074_1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cb9a0b074_1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cb9a0b074_1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e965474a9_3_2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e965474a9_3_2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7c49df7572128e91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7c49df7572128e9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cb9a0b074_1_2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cb9a0b074_1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1.xml"/><Relationship Id="rId5"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1.xml"/><Relationship Id="rId5" Type="http://schemas.openxmlformats.org/officeDocument/2006/relationships/image" Target="../media/image18.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1.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1.xml"/><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9.jp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4300"/>
              <a:t>On the Go</a:t>
            </a:r>
            <a:endParaRPr sz="4300"/>
          </a:p>
        </p:txBody>
      </p:sp>
      <p:sp>
        <p:nvSpPr>
          <p:cNvPr id="86" name="Google Shape;86;p13"/>
          <p:cNvSpPr txBox="1">
            <a:spLocks noGrp="1"/>
          </p:cNvSpPr>
          <p:nvPr>
            <p:ph type="subTitle" idx="1"/>
          </p:nvPr>
        </p:nvSpPr>
        <p:spPr>
          <a:xfrm>
            <a:off x="598100" y="2571750"/>
            <a:ext cx="8373600" cy="1330200"/>
          </a:xfrm>
          <a:prstGeom prst="rect">
            <a:avLst/>
          </a:prstGeom>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
              <a:t>Dana Mounayer &amp; Judy Al Imam </a:t>
            </a:r>
            <a:endParaRPr/>
          </a:p>
          <a:p>
            <a:pPr marL="0" lvl="0" indent="0" algn="l" rtl="0">
              <a:lnSpc>
                <a:spcPct val="80000"/>
              </a:lnSpc>
              <a:spcBef>
                <a:spcPts val="0"/>
              </a:spcBef>
              <a:spcAft>
                <a:spcPts val="0"/>
              </a:spcAft>
              <a:buNone/>
            </a:pPr>
            <a:r>
              <a:rPr lang="en" sz="2200"/>
              <a:t>CS 2111 - section 1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title" idx="4294967295"/>
          </p:nvPr>
        </p:nvSpPr>
        <p:spPr>
          <a:xfrm>
            <a:off x="535775" y="712150"/>
            <a:ext cx="5197200" cy="768000"/>
          </a:xfrm>
          <a:prstGeom prst="rect">
            <a:avLst/>
          </a:prstGeom>
        </p:spPr>
        <p:txBody>
          <a:bodyPr spcFirstLastPara="1" wrap="square" lIns="91425" tIns="91425" rIns="91425" bIns="91425" anchor="t" anchorCtr="0">
            <a:normAutofit/>
          </a:bodyPr>
          <a:lstStyle/>
          <a:p>
            <a:pPr marL="0" lvl="0" indent="0" algn="l" rtl="0">
              <a:spcBef>
                <a:spcPts val="0"/>
              </a:spcBef>
              <a:spcAft>
                <a:spcPts val="1600"/>
              </a:spcAft>
              <a:buNone/>
            </a:pPr>
            <a:r>
              <a:rPr lang="en" sz="3600"/>
              <a:t>Website Idea</a:t>
            </a:r>
            <a:endParaRPr sz="2400"/>
          </a:p>
        </p:txBody>
      </p:sp>
      <p:sp>
        <p:nvSpPr>
          <p:cNvPr id="92" name="Google Shape;92;p14"/>
          <p:cNvSpPr txBox="1">
            <a:spLocks noGrp="1"/>
          </p:cNvSpPr>
          <p:nvPr>
            <p:ph type="title" idx="4294967295"/>
          </p:nvPr>
        </p:nvSpPr>
        <p:spPr>
          <a:xfrm>
            <a:off x="535775" y="1480150"/>
            <a:ext cx="5197200" cy="30675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1600"/>
              </a:spcAft>
              <a:buNone/>
            </a:pPr>
            <a:r>
              <a:rPr lang="en" sz="1800">
                <a:latin typeface="Lato"/>
                <a:ea typeface="Lato"/>
                <a:cs typeface="Lato"/>
                <a:sym typeface="Lato"/>
              </a:rPr>
              <a:t>On The Go is a website mostly for teens and young adults who love car rides and want quick options for drive-thrus in Jeddah. It makes finding drive-thru spots easier by showing their menus, ratings, and specialties so you can choose the best place fast.</a:t>
            </a:r>
            <a:endParaRPr sz="1700">
              <a:latin typeface="Lato"/>
              <a:ea typeface="Lato"/>
              <a:cs typeface="Lato"/>
              <a:sym typeface="Lato"/>
            </a:endParaRPr>
          </a:p>
        </p:txBody>
      </p:sp>
      <p:pic>
        <p:nvPicPr>
          <p:cNvPr id="93" name="Google Shape;93;p14"/>
          <p:cNvPicPr preferRelativeResize="0"/>
          <p:nvPr/>
        </p:nvPicPr>
        <p:blipFill>
          <a:blip r:embed="rId3">
            <a:alphaModFix/>
          </a:blip>
          <a:stretch>
            <a:fillRect/>
          </a:stretch>
        </p:blipFill>
        <p:spPr>
          <a:xfrm>
            <a:off x="6415975" y="2525950"/>
            <a:ext cx="2421925" cy="2421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7"/>
        <p:cNvGrpSpPr/>
        <p:nvPr/>
      </p:nvGrpSpPr>
      <p:grpSpPr>
        <a:xfrm>
          <a:off x="0" y="0"/>
          <a:ext cx="0" cy="0"/>
          <a:chOff x="0" y="0"/>
          <a:chExt cx="0" cy="0"/>
        </a:xfrm>
      </p:grpSpPr>
      <p:pic>
        <p:nvPicPr>
          <p:cNvPr id="98" name="Google Shape;98;p15"/>
          <p:cNvPicPr preferRelativeResize="0"/>
          <p:nvPr/>
        </p:nvPicPr>
        <p:blipFill>
          <a:blip r:embed="rId3">
            <a:alphaModFix/>
          </a:blip>
          <a:stretch>
            <a:fillRect/>
          </a:stretch>
        </p:blipFill>
        <p:spPr>
          <a:xfrm>
            <a:off x="727300" y="162725"/>
            <a:ext cx="7601550" cy="4818049"/>
          </a:xfrm>
          <a:prstGeom prst="rect">
            <a:avLst/>
          </a:prstGeom>
          <a:noFill/>
          <a:ln>
            <a:noFill/>
          </a:ln>
        </p:spPr>
      </p:pic>
      <p:pic>
        <p:nvPicPr>
          <p:cNvPr id="99" name="Google Shape;99;p15" descr="Piece of duct tape sticking a note to the slide"/>
          <p:cNvPicPr preferRelativeResize="0"/>
          <p:nvPr/>
        </p:nvPicPr>
        <p:blipFill rotWithShape="1">
          <a:blip r:embed="rId4">
            <a:alphaModFix/>
          </a:blip>
          <a:srcRect l="9244" t="5926" r="2118" b="10011"/>
          <a:stretch/>
        </p:blipFill>
        <p:spPr>
          <a:xfrm rot="154828">
            <a:off x="3536000" y="147301"/>
            <a:ext cx="2072000" cy="736050"/>
          </a:xfrm>
          <a:prstGeom prst="rect">
            <a:avLst/>
          </a:prstGeom>
          <a:noFill/>
          <a:ln>
            <a:noFill/>
          </a:ln>
        </p:spPr>
      </p:pic>
      <p:sp>
        <p:nvSpPr>
          <p:cNvPr id="100" name="Google Shape;100;p15"/>
          <p:cNvSpPr txBox="1"/>
          <p:nvPr/>
        </p:nvSpPr>
        <p:spPr>
          <a:xfrm>
            <a:off x="1290375" y="614872"/>
            <a:ext cx="3432900" cy="762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3000" b="1">
                <a:solidFill>
                  <a:schemeClr val="lt2"/>
                </a:solidFill>
                <a:latin typeface="Raleway"/>
                <a:ea typeface="Raleway"/>
                <a:cs typeface="Raleway"/>
                <a:sym typeface="Raleway"/>
              </a:rPr>
              <a:t>1. Intro</a:t>
            </a:r>
            <a:endParaRPr sz="3000" b="1">
              <a:solidFill>
                <a:schemeClr val="lt2"/>
              </a:solidFill>
              <a:latin typeface="Raleway"/>
              <a:ea typeface="Raleway"/>
              <a:cs typeface="Raleway"/>
              <a:sym typeface="Raleway"/>
            </a:endParaRPr>
          </a:p>
        </p:txBody>
      </p:sp>
      <p:sp>
        <p:nvSpPr>
          <p:cNvPr id="101" name="Google Shape;101;p15"/>
          <p:cNvSpPr txBox="1">
            <a:spLocks noGrp="1"/>
          </p:cNvSpPr>
          <p:nvPr>
            <p:ph type="body" idx="4294967295"/>
          </p:nvPr>
        </p:nvSpPr>
        <p:spPr>
          <a:xfrm>
            <a:off x="1290375" y="1377475"/>
            <a:ext cx="6507900" cy="3327900"/>
          </a:xfrm>
          <a:prstGeom prst="rect">
            <a:avLst/>
          </a:prstGeom>
        </p:spPr>
        <p:txBody>
          <a:bodyPr spcFirstLastPara="1" wrap="square" lIns="91425" tIns="91425" rIns="91425" bIns="91425" anchor="t" anchorCtr="0">
            <a:normAutofit lnSpcReduction="20000"/>
          </a:bodyPr>
          <a:lstStyle/>
          <a:p>
            <a:pPr marL="0" lvl="0" indent="0" algn="l" rtl="0">
              <a:spcBef>
                <a:spcPts val="1200"/>
              </a:spcBef>
              <a:spcAft>
                <a:spcPts val="0"/>
              </a:spcAft>
              <a:buNone/>
            </a:pPr>
            <a:endParaRPr sz="2150" b="1">
              <a:solidFill>
                <a:schemeClr val="dk1"/>
              </a:solidFill>
              <a:latin typeface="Raleway"/>
              <a:ea typeface="Raleway"/>
              <a:cs typeface="Raleway"/>
              <a:sym typeface="Raleway"/>
            </a:endParaRPr>
          </a:p>
          <a:p>
            <a:pPr marL="457200" lvl="0" indent="-365125" algn="l" rtl="0">
              <a:spcBef>
                <a:spcPts val="1200"/>
              </a:spcBef>
              <a:spcAft>
                <a:spcPts val="0"/>
              </a:spcAft>
              <a:buClr>
                <a:schemeClr val="dk1"/>
              </a:buClr>
              <a:buSzPts val="2150"/>
              <a:buFont typeface="Arial"/>
              <a:buChar char="➔"/>
            </a:pPr>
            <a:r>
              <a:rPr lang="en" sz="2150" b="1">
                <a:solidFill>
                  <a:schemeClr val="dk1"/>
                </a:solidFill>
                <a:latin typeface="Raleway"/>
                <a:ea typeface="Raleway"/>
                <a:cs typeface="Raleway"/>
                <a:sym typeface="Raleway"/>
              </a:rPr>
              <a:t>Today, We’ll  take you through the features, layout, and unique aspects of our website that set it apart.</a:t>
            </a:r>
            <a:endParaRPr sz="2150" b="1">
              <a:solidFill>
                <a:schemeClr val="dk1"/>
              </a:solidFill>
              <a:latin typeface="Raleway"/>
              <a:ea typeface="Raleway"/>
              <a:cs typeface="Raleway"/>
              <a:sym typeface="Raleway"/>
            </a:endParaRPr>
          </a:p>
          <a:p>
            <a:pPr marL="457200" lvl="0" indent="-365125" algn="l" rtl="0">
              <a:spcBef>
                <a:spcPts val="0"/>
              </a:spcBef>
              <a:spcAft>
                <a:spcPts val="0"/>
              </a:spcAft>
              <a:buClr>
                <a:schemeClr val="dk1"/>
              </a:buClr>
              <a:buSzPts val="2150"/>
              <a:buFont typeface="Arial"/>
              <a:buChar char="➔"/>
            </a:pPr>
            <a:r>
              <a:rPr lang="en" sz="2150" b="1">
                <a:solidFill>
                  <a:schemeClr val="dk1"/>
                </a:solidFill>
                <a:latin typeface="Raleway"/>
                <a:ea typeface="Raleway"/>
                <a:cs typeface="Raleway"/>
                <a:sym typeface="Raleway"/>
              </a:rPr>
              <a:t>We’ll explore how 'On The Go' transforms the traditional drive-thru experience into a more connected and efficient process.</a:t>
            </a:r>
            <a:endParaRPr sz="2150" b="1">
              <a:solidFill>
                <a:schemeClr val="dk1"/>
              </a:solidFill>
              <a:latin typeface="Raleway"/>
              <a:ea typeface="Raleway"/>
              <a:cs typeface="Raleway"/>
              <a:sym typeface="Raleway"/>
            </a:endParaRPr>
          </a:p>
          <a:p>
            <a:pPr marL="0" lvl="0" indent="0" algn="l" rtl="0">
              <a:spcBef>
                <a:spcPts val="1200"/>
              </a:spcBef>
              <a:spcAft>
                <a:spcPts val="0"/>
              </a:spcAft>
              <a:buNone/>
            </a:pPr>
            <a:endParaRPr sz="1200" b="1">
              <a:latin typeface="Raleway"/>
              <a:ea typeface="Raleway"/>
              <a:cs typeface="Raleway"/>
              <a:sym typeface="Raleway"/>
            </a:endParaRPr>
          </a:p>
          <a:p>
            <a:pPr marL="457200" lvl="0" indent="0" algn="l" rtl="0">
              <a:spcBef>
                <a:spcPts val="1600"/>
              </a:spcBef>
              <a:spcAft>
                <a:spcPts val="1000"/>
              </a:spcAft>
              <a:buNone/>
            </a:pPr>
            <a:endParaRPr sz="1200">
              <a:solidFill>
                <a:schemeClr val="dk2"/>
              </a:solidFill>
              <a:latin typeface="Raleway"/>
              <a:ea typeface="Raleway"/>
              <a:cs typeface="Raleway"/>
              <a:sym typeface="Raleway"/>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5"/>
        <p:cNvGrpSpPr/>
        <p:nvPr/>
      </p:nvGrpSpPr>
      <p:grpSpPr>
        <a:xfrm>
          <a:off x="0" y="0"/>
          <a:ext cx="0" cy="0"/>
          <a:chOff x="0" y="0"/>
          <a:chExt cx="0" cy="0"/>
        </a:xfrm>
      </p:grpSpPr>
      <p:grpSp>
        <p:nvGrpSpPr>
          <p:cNvPr id="106" name="Google Shape;106;p16"/>
          <p:cNvGrpSpPr/>
          <p:nvPr/>
        </p:nvGrpSpPr>
        <p:grpSpPr>
          <a:xfrm>
            <a:off x="1215100" y="3436425"/>
            <a:ext cx="6713802" cy="1393300"/>
            <a:chOff x="7020632" y="-3155133"/>
            <a:chExt cx="2212053" cy="2163173"/>
          </a:xfrm>
        </p:grpSpPr>
        <p:pic>
          <p:nvPicPr>
            <p:cNvPr id="107" name="Google Shape;107;p16"/>
            <p:cNvPicPr preferRelativeResize="0"/>
            <p:nvPr/>
          </p:nvPicPr>
          <p:blipFill>
            <a:blip r:embed="rId3">
              <a:alphaModFix/>
            </a:blip>
            <a:stretch>
              <a:fillRect/>
            </a:stretch>
          </p:blipFill>
          <p:spPr>
            <a:xfrm>
              <a:off x="7020632" y="-3155133"/>
              <a:ext cx="2212053" cy="2163173"/>
            </a:xfrm>
            <a:prstGeom prst="rect">
              <a:avLst/>
            </a:prstGeom>
            <a:noFill/>
            <a:ln>
              <a:noFill/>
            </a:ln>
          </p:spPr>
        </p:pic>
        <p:sp>
          <p:nvSpPr>
            <p:cNvPr id="108" name="Google Shape;108;p16"/>
            <p:cNvSpPr txBox="1"/>
            <p:nvPr/>
          </p:nvSpPr>
          <p:spPr>
            <a:xfrm>
              <a:off x="7147308" y="-2774039"/>
              <a:ext cx="1958700" cy="140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800"/>
                </a:spcAft>
                <a:buNone/>
              </a:pPr>
              <a:r>
                <a:rPr lang="en" sz="1200" b="1">
                  <a:solidFill>
                    <a:schemeClr val="dk2"/>
                  </a:solidFill>
                  <a:latin typeface="Raleway"/>
                  <a:ea typeface="Raleway"/>
                  <a:cs typeface="Raleway"/>
                  <a:sym typeface="Raleway"/>
                </a:rPr>
                <a:t>Our website consists of six distinct pages: </a:t>
              </a:r>
              <a:r>
                <a:rPr lang="en" sz="1200" b="1" i="1">
                  <a:solidFill>
                    <a:schemeClr val="dk1"/>
                  </a:solidFill>
                  <a:latin typeface="Raleway"/>
                  <a:ea typeface="Raleway"/>
                  <a:cs typeface="Raleway"/>
                  <a:sym typeface="Raleway"/>
                </a:rPr>
                <a:t>Home</a:t>
              </a:r>
              <a:r>
                <a:rPr lang="en" sz="1200" b="1">
                  <a:solidFill>
                    <a:schemeClr val="dk2"/>
                  </a:solidFill>
                  <a:latin typeface="Raleway"/>
                  <a:ea typeface="Raleway"/>
                  <a:cs typeface="Raleway"/>
                  <a:sym typeface="Raleway"/>
                </a:rPr>
                <a:t>, Drive-Thrus (separate sections for food and drinks-desserts), Reviews, About Us, and Contact Us, each with its own unique content and layout.</a:t>
              </a:r>
              <a:endParaRPr sz="1200" b="1">
                <a:solidFill>
                  <a:schemeClr val="dk2"/>
                </a:solidFill>
                <a:latin typeface="Raleway"/>
                <a:ea typeface="Raleway"/>
                <a:cs typeface="Raleway"/>
                <a:sym typeface="Raleway"/>
              </a:endParaRPr>
            </a:p>
          </p:txBody>
        </p:sp>
      </p:grpSp>
      <p:pic>
        <p:nvPicPr>
          <p:cNvPr id="109" name="Google Shape;109;p16"/>
          <p:cNvPicPr preferRelativeResize="0"/>
          <p:nvPr/>
        </p:nvPicPr>
        <p:blipFill>
          <a:blip r:embed="rId4">
            <a:alphaModFix/>
          </a:blip>
          <a:stretch>
            <a:fillRect/>
          </a:stretch>
        </p:blipFill>
        <p:spPr>
          <a:xfrm>
            <a:off x="0" y="0"/>
            <a:ext cx="9144000" cy="3338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Shape 113"/>
        <p:cNvGrpSpPr/>
        <p:nvPr/>
      </p:nvGrpSpPr>
      <p:grpSpPr>
        <a:xfrm>
          <a:off x="0" y="0"/>
          <a:ext cx="0" cy="0"/>
          <a:chOff x="0" y="0"/>
          <a:chExt cx="0" cy="0"/>
        </a:xfrm>
      </p:grpSpPr>
      <p:grpSp>
        <p:nvGrpSpPr>
          <p:cNvPr id="114" name="Google Shape;114;p17"/>
          <p:cNvGrpSpPr/>
          <p:nvPr/>
        </p:nvGrpSpPr>
        <p:grpSpPr>
          <a:xfrm>
            <a:off x="6781646" y="2321112"/>
            <a:ext cx="2362691" cy="2680093"/>
            <a:chOff x="6803275" y="427445"/>
            <a:chExt cx="2212050" cy="2504994"/>
          </a:xfrm>
        </p:grpSpPr>
        <p:pic>
          <p:nvPicPr>
            <p:cNvPr id="115" name="Google Shape;115;p17"/>
            <p:cNvPicPr preferRelativeResize="0"/>
            <p:nvPr/>
          </p:nvPicPr>
          <p:blipFill>
            <a:blip r:embed="rId3">
              <a:alphaModFix/>
            </a:blip>
            <a:stretch>
              <a:fillRect/>
            </a:stretch>
          </p:blipFill>
          <p:spPr>
            <a:xfrm>
              <a:off x="6803275" y="427445"/>
              <a:ext cx="2212050" cy="2504994"/>
            </a:xfrm>
            <a:prstGeom prst="rect">
              <a:avLst/>
            </a:prstGeom>
            <a:noFill/>
            <a:ln>
              <a:noFill/>
            </a:ln>
          </p:spPr>
        </p:pic>
        <p:pic>
          <p:nvPicPr>
            <p:cNvPr id="116" name="Google Shape;116;p17" descr="Piece of duct tape sticking a note to the slide"/>
            <p:cNvPicPr preferRelativeResize="0"/>
            <p:nvPr/>
          </p:nvPicPr>
          <p:blipFill rotWithShape="1">
            <a:blip r:embed="rId4">
              <a:alphaModFix/>
            </a:blip>
            <a:srcRect l="9244" t="5926" r="2118" b="10011"/>
            <a:stretch/>
          </p:blipFill>
          <p:spPr>
            <a:xfrm rot="154826">
              <a:off x="7316513" y="451519"/>
              <a:ext cx="1077273" cy="382687"/>
            </a:xfrm>
            <a:prstGeom prst="rect">
              <a:avLst/>
            </a:prstGeom>
            <a:noFill/>
            <a:ln>
              <a:noFill/>
            </a:ln>
          </p:spPr>
        </p:pic>
        <p:sp>
          <p:nvSpPr>
            <p:cNvPr id="117" name="Google Shape;117;p17"/>
            <p:cNvSpPr txBox="1"/>
            <p:nvPr/>
          </p:nvSpPr>
          <p:spPr>
            <a:xfrm>
              <a:off x="6944807" y="782991"/>
              <a:ext cx="1929000" cy="190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2"/>
                </a:buClr>
                <a:buSzPts val="1100"/>
                <a:buFont typeface="Arial"/>
                <a:buNone/>
              </a:pPr>
              <a:r>
                <a:rPr lang="en" sz="1300" b="1">
                  <a:solidFill>
                    <a:schemeClr val="dk1"/>
                  </a:solidFill>
                  <a:latin typeface="Raleway"/>
                  <a:ea typeface="Raleway"/>
                  <a:cs typeface="Raleway"/>
                  <a:sym typeface="Raleway"/>
                </a:rPr>
                <a:t>Renowned Specialties</a:t>
              </a:r>
              <a:endParaRPr sz="1300" b="1">
                <a:solidFill>
                  <a:schemeClr val="dk1"/>
                </a:solidFill>
                <a:latin typeface="Raleway"/>
                <a:ea typeface="Raleway"/>
                <a:cs typeface="Raleway"/>
                <a:sym typeface="Raleway"/>
              </a:endParaRPr>
            </a:p>
            <a:p>
              <a:pPr marL="0" lvl="0" indent="0" algn="l" rtl="0">
                <a:spcBef>
                  <a:spcPts val="800"/>
                </a:spcBef>
                <a:spcAft>
                  <a:spcPts val="0"/>
                </a:spcAft>
                <a:buNone/>
              </a:pPr>
              <a:r>
                <a:rPr lang="en" sz="1200">
                  <a:solidFill>
                    <a:schemeClr val="dk2"/>
                  </a:solidFill>
                  <a:latin typeface="Raleway"/>
                  <a:ea typeface="Raleway"/>
                  <a:cs typeface="Raleway"/>
                  <a:sym typeface="Raleway"/>
                </a:rPr>
                <a:t>This section of the homepage shows the best-selling items from the most popular drive-thrus, with a hover effect that scrolls the names of each drive-thru.</a:t>
              </a:r>
              <a:endParaRPr sz="1200">
                <a:solidFill>
                  <a:schemeClr val="dk2"/>
                </a:solidFill>
                <a:latin typeface="Raleway"/>
                <a:ea typeface="Raleway"/>
                <a:cs typeface="Raleway"/>
                <a:sym typeface="Raleway"/>
              </a:endParaRPr>
            </a:p>
            <a:p>
              <a:pPr marL="0" lvl="0" indent="0" algn="l" rtl="0">
                <a:spcBef>
                  <a:spcPts val="800"/>
                </a:spcBef>
                <a:spcAft>
                  <a:spcPts val="800"/>
                </a:spcAft>
                <a:buNone/>
              </a:pPr>
              <a:endParaRPr sz="1200">
                <a:solidFill>
                  <a:schemeClr val="dk2"/>
                </a:solidFill>
                <a:latin typeface="Raleway"/>
                <a:ea typeface="Raleway"/>
                <a:cs typeface="Raleway"/>
                <a:sym typeface="Raleway"/>
              </a:endParaRPr>
            </a:p>
          </p:txBody>
        </p:sp>
      </p:grpSp>
      <p:pic>
        <p:nvPicPr>
          <p:cNvPr id="118" name="Google Shape;118;p17"/>
          <p:cNvPicPr preferRelativeResize="0"/>
          <p:nvPr/>
        </p:nvPicPr>
        <p:blipFill>
          <a:blip r:embed="rId5">
            <a:alphaModFix/>
          </a:blip>
          <a:stretch>
            <a:fillRect/>
          </a:stretch>
        </p:blipFill>
        <p:spPr>
          <a:xfrm>
            <a:off x="110100" y="328650"/>
            <a:ext cx="6675448" cy="32473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8"/>
          <p:cNvSpPr txBox="1">
            <a:spLocks noGrp="1"/>
          </p:cNvSpPr>
          <p:nvPr>
            <p:ph type="title"/>
          </p:nvPr>
        </p:nvSpPr>
        <p:spPr>
          <a:xfrm>
            <a:off x="265500" y="1912650"/>
            <a:ext cx="4045200" cy="13182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sz="2400" b="0">
                <a:solidFill>
                  <a:schemeClr val="dk2"/>
                </a:solidFill>
              </a:rPr>
              <a:t>The Google Translate app can repeat anything you say in up to </a:t>
            </a:r>
            <a:r>
              <a:rPr lang="en"/>
              <a:t>NINETY LANGUAGES</a:t>
            </a:r>
            <a:r>
              <a:rPr lang="en" sz="2400"/>
              <a:t> </a:t>
            </a:r>
            <a:r>
              <a:rPr lang="en" sz="2400" b="0">
                <a:solidFill>
                  <a:schemeClr val="dk2"/>
                </a:solidFill>
              </a:rPr>
              <a:t>from German and Japanese  to Czech and Zulu</a:t>
            </a:r>
            <a:endParaRPr sz="2400" b="0">
              <a:solidFill>
                <a:schemeClr val="dk2"/>
              </a:solidFill>
            </a:endParaRPr>
          </a:p>
        </p:txBody>
      </p:sp>
      <p:pic>
        <p:nvPicPr>
          <p:cNvPr id="124" name="Google Shape;124;p18"/>
          <p:cNvPicPr preferRelativeResize="0"/>
          <p:nvPr/>
        </p:nvPicPr>
        <p:blipFill>
          <a:blip r:embed="rId3">
            <a:alphaModFix/>
          </a:blip>
          <a:stretch>
            <a:fillRect/>
          </a:stretch>
        </p:blipFill>
        <p:spPr>
          <a:xfrm>
            <a:off x="0" y="351925"/>
            <a:ext cx="5860076" cy="4439649"/>
          </a:xfrm>
          <a:prstGeom prst="rect">
            <a:avLst/>
          </a:prstGeom>
          <a:noFill/>
          <a:ln>
            <a:noFill/>
          </a:ln>
        </p:spPr>
      </p:pic>
      <p:pic>
        <p:nvPicPr>
          <p:cNvPr id="125" name="Google Shape;125;p18"/>
          <p:cNvPicPr preferRelativeResize="0"/>
          <p:nvPr/>
        </p:nvPicPr>
        <p:blipFill>
          <a:blip r:embed="rId4">
            <a:alphaModFix/>
          </a:blip>
          <a:stretch>
            <a:fillRect/>
          </a:stretch>
        </p:blipFill>
        <p:spPr>
          <a:xfrm>
            <a:off x="5860075" y="807175"/>
            <a:ext cx="2817825" cy="2152799"/>
          </a:xfrm>
          <a:prstGeom prst="rect">
            <a:avLst/>
          </a:prstGeom>
          <a:noFill/>
          <a:ln>
            <a:noFill/>
          </a:ln>
        </p:spPr>
      </p:pic>
      <p:sp>
        <p:nvSpPr>
          <p:cNvPr id="126" name="Google Shape;126;p18"/>
          <p:cNvSpPr txBox="1"/>
          <p:nvPr/>
        </p:nvSpPr>
        <p:spPr>
          <a:xfrm>
            <a:off x="6033225" y="945875"/>
            <a:ext cx="2525400" cy="1995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chemeClr val="dk1"/>
                </a:solidFill>
                <a:latin typeface="Raleway"/>
                <a:ea typeface="Raleway"/>
                <a:cs typeface="Raleway"/>
                <a:sym typeface="Raleway"/>
              </a:rPr>
              <a:t>2 CATEGORIES  </a:t>
            </a:r>
            <a:endParaRPr sz="1300" b="1">
              <a:solidFill>
                <a:schemeClr val="dk1"/>
              </a:solidFill>
              <a:latin typeface="Raleway"/>
              <a:ea typeface="Raleway"/>
              <a:cs typeface="Raleway"/>
              <a:sym typeface="Raleway"/>
            </a:endParaRPr>
          </a:p>
          <a:p>
            <a:pPr marL="0" lvl="0" indent="0" algn="l" rtl="0">
              <a:spcBef>
                <a:spcPts val="800"/>
              </a:spcBef>
              <a:spcAft>
                <a:spcPts val="800"/>
              </a:spcAft>
              <a:buNone/>
            </a:pPr>
            <a:r>
              <a:rPr lang="en">
                <a:solidFill>
                  <a:schemeClr val="dk2"/>
                </a:solidFill>
                <a:latin typeface="Raleway"/>
                <a:ea typeface="Raleway"/>
                <a:cs typeface="Raleway"/>
                <a:sym typeface="Raleway"/>
              </a:rPr>
              <a:t>This section of the homepage allows the user to choose  their preference: drinks &amp; desserts or fast food with an “Explore Now” button to dive into each section.</a:t>
            </a:r>
            <a:endParaRPr sz="1600"/>
          </a:p>
        </p:txBody>
      </p:sp>
      <p:pic>
        <p:nvPicPr>
          <p:cNvPr id="127" name="Google Shape;127;p18" descr="Piece of duct tape sticking a note to the slide"/>
          <p:cNvPicPr preferRelativeResize="0"/>
          <p:nvPr/>
        </p:nvPicPr>
        <p:blipFill rotWithShape="1">
          <a:blip r:embed="rId5">
            <a:alphaModFix/>
          </a:blip>
          <a:srcRect l="9244" t="5926" r="2118" b="10011"/>
          <a:stretch/>
        </p:blipFill>
        <p:spPr>
          <a:xfrm rot="155084">
            <a:off x="6693658" y="657644"/>
            <a:ext cx="1150640" cy="40943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Shape 131"/>
        <p:cNvGrpSpPr/>
        <p:nvPr/>
      </p:nvGrpSpPr>
      <p:grpSpPr>
        <a:xfrm>
          <a:off x="0" y="0"/>
          <a:ext cx="0" cy="0"/>
          <a:chOff x="0" y="0"/>
          <a:chExt cx="0" cy="0"/>
        </a:xfrm>
      </p:grpSpPr>
      <p:sp>
        <p:nvSpPr>
          <p:cNvPr id="132" name="Google Shape;132;p19"/>
          <p:cNvSpPr txBox="1">
            <a:spLocks noGrp="1"/>
          </p:cNvSpPr>
          <p:nvPr>
            <p:ph type="body" idx="1"/>
          </p:nvPr>
        </p:nvSpPr>
        <p:spPr>
          <a:xfrm>
            <a:off x="0" y="68775"/>
            <a:ext cx="7668300" cy="114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1"/>
                </a:solidFill>
                <a:latin typeface="Raleway"/>
                <a:ea typeface="Raleway"/>
                <a:cs typeface="Raleway"/>
                <a:sym typeface="Raleway"/>
              </a:rPr>
              <a:t>About On The Go</a:t>
            </a:r>
            <a:br>
              <a:rPr lang="en" sz="1100">
                <a:latin typeface="Raleway"/>
                <a:ea typeface="Raleway"/>
                <a:cs typeface="Raleway"/>
                <a:sym typeface="Raleway"/>
              </a:rPr>
            </a:br>
            <a:r>
              <a:rPr lang="en" sz="1100">
                <a:solidFill>
                  <a:srgbClr val="000000"/>
                </a:solidFill>
                <a:latin typeface="Raleway"/>
                <a:ea typeface="Raleway"/>
                <a:cs typeface="Raleway"/>
                <a:sym typeface="Raleway"/>
              </a:rPr>
              <a:t>The final section, </a:t>
            </a:r>
            <a:r>
              <a:rPr lang="en" sz="1100" i="1">
                <a:solidFill>
                  <a:srgbClr val="000000"/>
                </a:solidFill>
                <a:latin typeface="Raleway"/>
                <a:ea typeface="Raleway"/>
                <a:cs typeface="Raleway"/>
                <a:sym typeface="Raleway"/>
              </a:rPr>
              <a:t>About On The Go</a:t>
            </a:r>
            <a:r>
              <a:rPr lang="en" sz="1100">
                <a:solidFill>
                  <a:srgbClr val="000000"/>
                </a:solidFill>
                <a:latin typeface="Raleway"/>
                <a:ea typeface="Raleway"/>
                <a:cs typeface="Raleway"/>
                <a:sym typeface="Raleway"/>
              </a:rPr>
              <a:t>, includes a "Read More" button that directs users to the </a:t>
            </a:r>
            <a:r>
              <a:rPr lang="en" sz="1100" i="1">
                <a:solidFill>
                  <a:srgbClr val="000000"/>
                </a:solidFill>
                <a:latin typeface="Raleway"/>
                <a:ea typeface="Raleway"/>
                <a:cs typeface="Raleway"/>
                <a:sym typeface="Raleway"/>
              </a:rPr>
              <a:t>About Us</a:t>
            </a:r>
            <a:r>
              <a:rPr lang="en" sz="1100">
                <a:solidFill>
                  <a:srgbClr val="000000"/>
                </a:solidFill>
                <a:latin typeface="Raleway"/>
                <a:ea typeface="Raleway"/>
                <a:cs typeface="Raleway"/>
                <a:sym typeface="Raleway"/>
              </a:rPr>
              <a:t> webpage, where they can find detailed information about our website and its offerings.</a:t>
            </a:r>
            <a:endParaRPr sz="1100">
              <a:solidFill>
                <a:srgbClr val="000000"/>
              </a:solidFill>
              <a:latin typeface="Raleway"/>
              <a:ea typeface="Raleway"/>
              <a:cs typeface="Raleway"/>
              <a:sym typeface="Raleway"/>
            </a:endParaRPr>
          </a:p>
          <a:p>
            <a:pPr marL="0" lvl="0" indent="0" algn="l" rtl="0">
              <a:spcBef>
                <a:spcPts val="1000"/>
              </a:spcBef>
              <a:spcAft>
                <a:spcPts val="1000"/>
              </a:spcAft>
              <a:buNone/>
            </a:pPr>
            <a:r>
              <a:rPr lang="en" sz="1100" b="1">
                <a:solidFill>
                  <a:schemeClr val="dk1"/>
                </a:solidFill>
                <a:latin typeface="Raleway"/>
                <a:ea typeface="Raleway"/>
                <a:cs typeface="Raleway"/>
                <a:sym typeface="Raleway"/>
              </a:rPr>
              <a:t>Footer Section</a:t>
            </a:r>
            <a:br>
              <a:rPr lang="en" sz="1100">
                <a:latin typeface="Raleway"/>
                <a:ea typeface="Raleway"/>
                <a:cs typeface="Raleway"/>
                <a:sym typeface="Raleway"/>
              </a:rPr>
            </a:br>
            <a:r>
              <a:rPr lang="en" sz="1100">
                <a:solidFill>
                  <a:srgbClr val="000000"/>
                </a:solidFill>
                <a:latin typeface="Raleway"/>
                <a:ea typeface="Raleway"/>
                <a:cs typeface="Raleway"/>
                <a:sym typeface="Raleway"/>
              </a:rPr>
              <a:t>In the footer, </a:t>
            </a:r>
            <a:r>
              <a:rPr lang="en" sz="1100" i="1">
                <a:solidFill>
                  <a:srgbClr val="000000"/>
                </a:solidFill>
                <a:latin typeface="Raleway"/>
                <a:ea typeface="Raleway"/>
                <a:cs typeface="Raleway"/>
                <a:sym typeface="Raleway"/>
              </a:rPr>
              <a:t>On The Go</a:t>
            </a:r>
            <a:r>
              <a:rPr lang="en" sz="1100">
                <a:solidFill>
                  <a:srgbClr val="000000"/>
                </a:solidFill>
                <a:latin typeface="Raleway"/>
                <a:ea typeface="Raleway"/>
                <a:cs typeface="Raleway"/>
                <a:sym typeface="Raleway"/>
              </a:rPr>
              <a:t> provides easy contact options with a phone number and an email address, accompanied by icons sourced from Google Fonts, making it simple for users to connect with us.</a:t>
            </a:r>
            <a:endParaRPr sz="1100">
              <a:solidFill>
                <a:srgbClr val="000000"/>
              </a:solidFill>
              <a:latin typeface="Raleway"/>
              <a:ea typeface="Raleway"/>
              <a:cs typeface="Raleway"/>
              <a:sym typeface="Raleway"/>
            </a:endParaRPr>
          </a:p>
        </p:txBody>
      </p:sp>
      <p:pic>
        <p:nvPicPr>
          <p:cNvPr id="133" name="Google Shape;133;p19"/>
          <p:cNvPicPr preferRelativeResize="0"/>
          <p:nvPr/>
        </p:nvPicPr>
        <p:blipFill>
          <a:blip r:embed="rId3">
            <a:alphaModFix/>
          </a:blip>
          <a:stretch>
            <a:fillRect/>
          </a:stretch>
        </p:blipFill>
        <p:spPr>
          <a:xfrm>
            <a:off x="884838" y="1577350"/>
            <a:ext cx="8028075" cy="3457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7"/>
        <p:cNvGrpSpPr/>
        <p:nvPr/>
      </p:nvGrpSpPr>
      <p:grpSpPr>
        <a:xfrm>
          <a:off x="0" y="0"/>
          <a:ext cx="0" cy="0"/>
          <a:chOff x="0" y="0"/>
          <a:chExt cx="0" cy="0"/>
        </a:xfrm>
      </p:grpSpPr>
      <p:pic>
        <p:nvPicPr>
          <p:cNvPr id="138" name="Google Shape;138;p20"/>
          <p:cNvPicPr preferRelativeResize="0"/>
          <p:nvPr/>
        </p:nvPicPr>
        <p:blipFill>
          <a:blip r:embed="rId3">
            <a:alphaModFix/>
          </a:blip>
          <a:stretch>
            <a:fillRect/>
          </a:stretch>
        </p:blipFill>
        <p:spPr>
          <a:xfrm>
            <a:off x="4572000" y="203075"/>
            <a:ext cx="2240875" cy="2570926"/>
          </a:xfrm>
          <a:prstGeom prst="rect">
            <a:avLst/>
          </a:prstGeom>
          <a:noFill/>
          <a:ln>
            <a:noFill/>
          </a:ln>
        </p:spPr>
      </p:pic>
      <p:pic>
        <p:nvPicPr>
          <p:cNvPr id="139" name="Google Shape;139;p20"/>
          <p:cNvPicPr preferRelativeResize="0"/>
          <p:nvPr/>
        </p:nvPicPr>
        <p:blipFill>
          <a:blip r:embed="rId4">
            <a:alphaModFix/>
          </a:blip>
          <a:stretch>
            <a:fillRect/>
          </a:stretch>
        </p:blipFill>
        <p:spPr>
          <a:xfrm>
            <a:off x="200925" y="203075"/>
            <a:ext cx="4229701" cy="4738500"/>
          </a:xfrm>
          <a:prstGeom prst="rect">
            <a:avLst/>
          </a:prstGeom>
          <a:noFill/>
          <a:ln>
            <a:noFill/>
          </a:ln>
        </p:spPr>
      </p:pic>
      <p:pic>
        <p:nvPicPr>
          <p:cNvPr id="140" name="Google Shape;140;p20"/>
          <p:cNvPicPr preferRelativeResize="0"/>
          <p:nvPr/>
        </p:nvPicPr>
        <p:blipFill>
          <a:blip r:embed="rId5">
            <a:alphaModFix/>
          </a:blip>
          <a:stretch>
            <a:fillRect/>
          </a:stretch>
        </p:blipFill>
        <p:spPr>
          <a:xfrm>
            <a:off x="5648849" y="2327300"/>
            <a:ext cx="3026600" cy="2318030"/>
          </a:xfrm>
          <a:prstGeom prst="rect">
            <a:avLst/>
          </a:prstGeom>
          <a:noFill/>
          <a:ln>
            <a:noFill/>
          </a:ln>
        </p:spPr>
      </p:pic>
      <p:sp>
        <p:nvSpPr>
          <p:cNvPr id="141" name="Google Shape;141;p20"/>
          <p:cNvSpPr txBox="1"/>
          <p:nvPr/>
        </p:nvSpPr>
        <p:spPr>
          <a:xfrm>
            <a:off x="5849150" y="2638925"/>
            <a:ext cx="2826300" cy="18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2"/>
                </a:solidFill>
                <a:latin typeface="Raleway"/>
                <a:ea typeface="Raleway"/>
                <a:cs typeface="Raleway"/>
                <a:sym typeface="Raleway"/>
              </a:rPr>
              <a:t>Displays a grid of fast food drive-thrus with their name, image, rating, and a "View Menu" button that scrolls down to the selected drive-thru's menu.</a:t>
            </a:r>
            <a:endParaRPr sz="1500">
              <a:solidFill>
                <a:schemeClr val="dk2"/>
              </a:solidFill>
              <a:latin typeface="Raleway"/>
              <a:ea typeface="Raleway"/>
              <a:cs typeface="Raleway"/>
              <a:sym typeface="Raleway"/>
            </a:endParaRPr>
          </a:p>
        </p:txBody>
      </p:sp>
      <p:pic>
        <p:nvPicPr>
          <p:cNvPr id="142" name="Google Shape;142;p20" descr="Piece of duct tape sticking a note to the slide"/>
          <p:cNvPicPr preferRelativeResize="0"/>
          <p:nvPr/>
        </p:nvPicPr>
        <p:blipFill rotWithShape="1">
          <a:blip r:embed="rId6">
            <a:alphaModFix/>
          </a:blip>
          <a:srcRect l="9244" t="5926" r="2118" b="10011"/>
          <a:stretch/>
        </p:blipFill>
        <p:spPr>
          <a:xfrm rot="155077">
            <a:off x="6582385" y="2206950"/>
            <a:ext cx="964577" cy="34322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6"/>
        <p:cNvGrpSpPr/>
        <p:nvPr/>
      </p:nvGrpSpPr>
      <p:grpSpPr>
        <a:xfrm>
          <a:off x="0" y="0"/>
          <a:ext cx="0" cy="0"/>
          <a:chOff x="0" y="0"/>
          <a:chExt cx="0" cy="0"/>
        </a:xfrm>
      </p:grpSpPr>
      <p:pic>
        <p:nvPicPr>
          <p:cNvPr id="147" name="Google Shape;147;p21"/>
          <p:cNvPicPr preferRelativeResize="0"/>
          <p:nvPr/>
        </p:nvPicPr>
        <p:blipFill>
          <a:blip r:embed="rId3">
            <a:alphaModFix/>
          </a:blip>
          <a:stretch>
            <a:fillRect/>
          </a:stretch>
        </p:blipFill>
        <p:spPr>
          <a:xfrm>
            <a:off x="152400" y="152400"/>
            <a:ext cx="5240468" cy="4838698"/>
          </a:xfrm>
          <a:prstGeom prst="rect">
            <a:avLst/>
          </a:prstGeom>
          <a:noFill/>
          <a:ln>
            <a:noFill/>
          </a:ln>
        </p:spPr>
      </p:pic>
      <p:pic>
        <p:nvPicPr>
          <p:cNvPr id="148" name="Google Shape;148;p21"/>
          <p:cNvPicPr preferRelativeResize="0"/>
          <p:nvPr/>
        </p:nvPicPr>
        <p:blipFill>
          <a:blip r:embed="rId4">
            <a:alphaModFix/>
          </a:blip>
          <a:stretch>
            <a:fillRect/>
          </a:stretch>
        </p:blipFill>
        <p:spPr>
          <a:xfrm>
            <a:off x="5880600" y="1400200"/>
            <a:ext cx="2249075" cy="34332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Shape 152"/>
        <p:cNvGrpSpPr/>
        <p:nvPr/>
      </p:nvGrpSpPr>
      <p:grpSpPr>
        <a:xfrm>
          <a:off x="0" y="0"/>
          <a:ext cx="0" cy="0"/>
          <a:chOff x="0" y="0"/>
          <a:chExt cx="0" cy="0"/>
        </a:xfrm>
      </p:grpSpPr>
      <p:pic>
        <p:nvPicPr>
          <p:cNvPr id="153" name="Google Shape;153;p22"/>
          <p:cNvPicPr preferRelativeResize="0"/>
          <p:nvPr/>
        </p:nvPicPr>
        <p:blipFill>
          <a:blip r:embed="rId3">
            <a:alphaModFix/>
          </a:blip>
          <a:stretch>
            <a:fillRect/>
          </a:stretch>
        </p:blipFill>
        <p:spPr>
          <a:xfrm>
            <a:off x="1704625" y="203200"/>
            <a:ext cx="5734751" cy="3225800"/>
          </a:xfrm>
          <a:prstGeom prst="rect">
            <a:avLst/>
          </a:prstGeom>
          <a:noFill/>
          <a:ln>
            <a:noFill/>
          </a:ln>
        </p:spPr>
      </p:pic>
      <p:sp>
        <p:nvSpPr>
          <p:cNvPr id="154" name="Google Shape;154;p22"/>
          <p:cNvSpPr txBox="1"/>
          <p:nvPr/>
        </p:nvSpPr>
        <p:spPr>
          <a:xfrm>
            <a:off x="1496124" y="3602250"/>
            <a:ext cx="6778500" cy="163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500">
                <a:solidFill>
                  <a:schemeClr val="dk2"/>
                </a:solidFill>
                <a:latin typeface="Raleway"/>
                <a:ea typeface="Raleway"/>
                <a:cs typeface="Raleway"/>
                <a:sym typeface="Raleway"/>
              </a:rPr>
              <a:t>When the user enters their login information, their credentials are hashed and compared against the stored hash in our database to verify their identity. This ensures that the actual passwords are never exposed, providing an additional layer of security during the authentication process.</a:t>
            </a:r>
            <a:endParaRPr sz="1500">
              <a:solidFill>
                <a:schemeClr val="dk2"/>
              </a:solidFill>
              <a:latin typeface="Raleway"/>
              <a:ea typeface="Raleway"/>
              <a:cs typeface="Raleway"/>
              <a:sym typeface="Raleway"/>
            </a:endParaRPr>
          </a:p>
          <a:p>
            <a:pPr marL="0" lvl="0" indent="0" algn="l" rtl="0">
              <a:spcBef>
                <a:spcPts val="1200"/>
              </a:spcBef>
              <a:spcAft>
                <a:spcPts val="0"/>
              </a:spcAft>
              <a:buNone/>
            </a:pPr>
            <a:endParaRPr sz="1500">
              <a:solidFill>
                <a:schemeClr val="dk2"/>
              </a:solidFill>
              <a:latin typeface="Raleway"/>
              <a:ea typeface="Raleway"/>
              <a:cs typeface="Raleway"/>
              <a:sym typeface="Raleway"/>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Shape 158"/>
        <p:cNvGrpSpPr/>
        <p:nvPr/>
      </p:nvGrpSpPr>
      <p:grpSpPr>
        <a:xfrm>
          <a:off x="0" y="0"/>
          <a:ext cx="0" cy="0"/>
          <a:chOff x="0" y="0"/>
          <a:chExt cx="0" cy="0"/>
        </a:xfrm>
      </p:grpSpPr>
      <p:pic>
        <p:nvPicPr>
          <p:cNvPr id="159" name="Google Shape;159;p23"/>
          <p:cNvPicPr preferRelativeResize="0"/>
          <p:nvPr/>
        </p:nvPicPr>
        <p:blipFill>
          <a:blip r:embed="rId3">
            <a:alphaModFix/>
          </a:blip>
          <a:stretch>
            <a:fillRect/>
          </a:stretch>
        </p:blipFill>
        <p:spPr>
          <a:xfrm>
            <a:off x="391725" y="311250"/>
            <a:ext cx="5749876" cy="4521000"/>
          </a:xfrm>
          <a:prstGeom prst="rect">
            <a:avLst/>
          </a:prstGeom>
          <a:noFill/>
          <a:ln>
            <a:noFill/>
          </a:ln>
        </p:spPr>
      </p:pic>
      <p:sp>
        <p:nvSpPr>
          <p:cNvPr id="160" name="Google Shape;160;p23"/>
          <p:cNvSpPr txBox="1"/>
          <p:nvPr/>
        </p:nvSpPr>
        <p:spPr>
          <a:xfrm>
            <a:off x="4724188" y="1661338"/>
            <a:ext cx="1689900" cy="161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700">
              <a:solidFill>
                <a:schemeClr val="dk2"/>
              </a:solidFill>
              <a:latin typeface="Roboto"/>
              <a:ea typeface="Roboto"/>
              <a:cs typeface="Roboto"/>
              <a:sym typeface="Roboto"/>
            </a:endParaRPr>
          </a:p>
        </p:txBody>
      </p:sp>
      <p:pic>
        <p:nvPicPr>
          <p:cNvPr id="161" name="Google Shape;161;p23"/>
          <p:cNvPicPr preferRelativeResize="0"/>
          <p:nvPr/>
        </p:nvPicPr>
        <p:blipFill>
          <a:blip r:embed="rId4">
            <a:alphaModFix/>
          </a:blip>
          <a:stretch>
            <a:fillRect/>
          </a:stretch>
        </p:blipFill>
        <p:spPr>
          <a:xfrm>
            <a:off x="6141604" y="1391625"/>
            <a:ext cx="2930726" cy="2504975"/>
          </a:xfrm>
          <a:prstGeom prst="rect">
            <a:avLst/>
          </a:prstGeom>
          <a:noFill/>
          <a:ln>
            <a:noFill/>
          </a:ln>
        </p:spPr>
      </p:pic>
      <p:sp>
        <p:nvSpPr>
          <p:cNvPr id="162" name="Google Shape;162;p23"/>
          <p:cNvSpPr txBox="1"/>
          <p:nvPr/>
        </p:nvSpPr>
        <p:spPr>
          <a:xfrm>
            <a:off x="6473500" y="1661350"/>
            <a:ext cx="2211900" cy="196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chemeClr val="dk1"/>
                </a:solidFill>
                <a:latin typeface="Raleway"/>
                <a:ea typeface="Raleway"/>
                <a:cs typeface="Raleway"/>
                <a:sym typeface="Raleway"/>
              </a:rPr>
              <a:t>Reviews Webpage</a:t>
            </a:r>
            <a:endParaRPr sz="1600" b="1">
              <a:solidFill>
                <a:schemeClr val="dk1"/>
              </a:solidFill>
              <a:latin typeface="Raleway"/>
              <a:ea typeface="Raleway"/>
              <a:cs typeface="Raleway"/>
              <a:sym typeface="Raleway"/>
            </a:endParaRPr>
          </a:p>
          <a:p>
            <a:pPr marL="0" lvl="0" indent="0" algn="l" rtl="0">
              <a:spcBef>
                <a:spcPts val="800"/>
              </a:spcBef>
              <a:spcAft>
                <a:spcPts val="0"/>
              </a:spcAft>
              <a:buNone/>
            </a:pPr>
            <a:r>
              <a:rPr lang="en" sz="1600">
                <a:solidFill>
                  <a:schemeClr val="dk2"/>
                </a:solidFill>
                <a:latin typeface="Raleway"/>
                <a:ea typeface="Raleway"/>
                <a:cs typeface="Raleway"/>
                <a:sym typeface="Raleway"/>
              </a:rPr>
              <a:t>The reviews displayed below the log in form are visible to all visitors, whether logged in or not.</a:t>
            </a:r>
            <a:endParaRPr sz="1600" b="1">
              <a:solidFill>
                <a:schemeClr val="dk1"/>
              </a:solidFill>
              <a:latin typeface="Raleway"/>
              <a:ea typeface="Raleway"/>
              <a:cs typeface="Raleway"/>
              <a:sym typeface="Raleway"/>
            </a:endParaRPr>
          </a:p>
          <a:p>
            <a:pPr marL="0" lvl="0" indent="0" algn="l" rtl="0">
              <a:spcBef>
                <a:spcPts val="0"/>
              </a:spcBef>
              <a:spcAft>
                <a:spcPts val="0"/>
              </a:spcAft>
              <a:buNone/>
            </a:pPr>
            <a:endParaRPr sz="1800">
              <a:solidFill>
                <a:schemeClr val="dk2"/>
              </a:solidFill>
              <a:latin typeface="Roboto"/>
              <a:ea typeface="Roboto"/>
              <a:cs typeface="Roboto"/>
              <a:sym typeface="Roboto"/>
            </a:endParaRPr>
          </a:p>
        </p:txBody>
      </p:sp>
      <p:pic>
        <p:nvPicPr>
          <p:cNvPr id="163" name="Google Shape;163;p23" descr="Piece of duct tape sticking a note to the slide"/>
          <p:cNvPicPr preferRelativeResize="0"/>
          <p:nvPr/>
        </p:nvPicPr>
        <p:blipFill rotWithShape="1">
          <a:blip r:embed="rId5">
            <a:alphaModFix/>
          </a:blip>
          <a:srcRect l="9244" t="5926" r="2118" b="10011"/>
          <a:stretch/>
        </p:blipFill>
        <p:spPr>
          <a:xfrm rot="154826">
            <a:off x="6969751" y="1254616"/>
            <a:ext cx="1077273" cy="38268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67"/>
        <p:cNvGrpSpPr/>
        <p:nvPr/>
      </p:nvGrpSpPr>
      <p:grpSpPr>
        <a:xfrm>
          <a:off x="0" y="0"/>
          <a:ext cx="0" cy="0"/>
          <a:chOff x="0" y="0"/>
          <a:chExt cx="0" cy="0"/>
        </a:xfrm>
      </p:grpSpPr>
      <p:pic>
        <p:nvPicPr>
          <p:cNvPr id="168" name="Google Shape;168;p24"/>
          <p:cNvPicPr preferRelativeResize="0"/>
          <p:nvPr/>
        </p:nvPicPr>
        <p:blipFill>
          <a:blip r:embed="rId3">
            <a:alphaModFix/>
          </a:blip>
          <a:stretch>
            <a:fillRect/>
          </a:stretch>
        </p:blipFill>
        <p:spPr>
          <a:xfrm>
            <a:off x="139450" y="129925"/>
            <a:ext cx="4085524" cy="2110924"/>
          </a:xfrm>
          <a:prstGeom prst="rect">
            <a:avLst/>
          </a:prstGeom>
          <a:noFill/>
          <a:ln>
            <a:noFill/>
          </a:ln>
        </p:spPr>
      </p:pic>
      <p:pic>
        <p:nvPicPr>
          <p:cNvPr id="169" name="Google Shape;169;p24"/>
          <p:cNvPicPr preferRelativeResize="0"/>
          <p:nvPr/>
        </p:nvPicPr>
        <p:blipFill>
          <a:blip r:embed="rId4">
            <a:alphaModFix/>
          </a:blip>
          <a:stretch>
            <a:fillRect/>
          </a:stretch>
        </p:blipFill>
        <p:spPr>
          <a:xfrm>
            <a:off x="139450" y="2407975"/>
            <a:ext cx="4085526" cy="2215745"/>
          </a:xfrm>
          <a:prstGeom prst="rect">
            <a:avLst/>
          </a:prstGeom>
          <a:noFill/>
          <a:ln>
            <a:noFill/>
          </a:ln>
        </p:spPr>
      </p:pic>
      <p:pic>
        <p:nvPicPr>
          <p:cNvPr id="170" name="Google Shape;170;p24"/>
          <p:cNvPicPr preferRelativeResize="0"/>
          <p:nvPr/>
        </p:nvPicPr>
        <p:blipFill>
          <a:blip r:embed="rId5">
            <a:alphaModFix/>
          </a:blip>
          <a:stretch>
            <a:fillRect/>
          </a:stretch>
        </p:blipFill>
        <p:spPr>
          <a:xfrm>
            <a:off x="837000" y="4704950"/>
            <a:ext cx="2438050" cy="366575"/>
          </a:xfrm>
          <a:prstGeom prst="rect">
            <a:avLst/>
          </a:prstGeom>
          <a:noFill/>
          <a:ln>
            <a:noFill/>
          </a:ln>
        </p:spPr>
      </p:pic>
      <p:sp>
        <p:nvSpPr>
          <p:cNvPr id="171" name="Google Shape;171;p24"/>
          <p:cNvSpPr txBox="1"/>
          <p:nvPr/>
        </p:nvSpPr>
        <p:spPr>
          <a:xfrm>
            <a:off x="4572000" y="129925"/>
            <a:ext cx="408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FFFFFF"/>
                </a:solidFill>
                <a:latin typeface="Raleway"/>
                <a:ea typeface="Raleway"/>
                <a:cs typeface="Raleway"/>
                <a:sym typeface="Raleway"/>
              </a:rPr>
              <a:t>Submitting reviews form is displayed after the user logs in</a:t>
            </a:r>
            <a:endParaRPr sz="1600">
              <a:solidFill>
                <a:srgbClr val="FFFFFF"/>
              </a:solidFill>
              <a:latin typeface="Raleway"/>
              <a:ea typeface="Raleway"/>
              <a:cs typeface="Raleway"/>
              <a:sym typeface="Raleway"/>
            </a:endParaRPr>
          </a:p>
        </p:txBody>
      </p:sp>
      <p:pic>
        <p:nvPicPr>
          <p:cNvPr id="172" name="Google Shape;172;p24"/>
          <p:cNvPicPr preferRelativeResize="0"/>
          <p:nvPr/>
        </p:nvPicPr>
        <p:blipFill>
          <a:blip r:embed="rId6">
            <a:alphaModFix/>
          </a:blip>
          <a:stretch>
            <a:fillRect/>
          </a:stretch>
        </p:blipFill>
        <p:spPr>
          <a:xfrm>
            <a:off x="4523712" y="939400"/>
            <a:ext cx="4181975" cy="3264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76"/>
        <p:cNvGrpSpPr/>
        <p:nvPr/>
      </p:nvGrpSpPr>
      <p:grpSpPr>
        <a:xfrm>
          <a:off x="0" y="0"/>
          <a:ext cx="0" cy="0"/>
          <a:chOff x="0" y="0"/>
          <a:chExt cx="0" cy="0"/>
        </a:xfrm>
      </p:grpSpPr>
      <p:pic>
        <p:nvPicPr>
          <p:cNvPr id="177" name="Google Shape;177;p25"/>
          <p:cNvPicPr preferRelativeResize="0"/>
          <p:nvPr/>
        </p:nvPicPr>
        <p:blipFill>
          <a:blip r:embed="rId3">
            <a:alphaModFix/>
          </a:blip>
          <a:stretch>
            <a:fillRect/>
          </a:stretch>
        </p:blipFill>
        <p:spPr>
          <a:xfrm>
            <a:off x="6520625" y="1649725"/>
            <a:ext cx="2024799" cy="1936449"/>
          </a:xfrm>
          <a:prstGeom prst="rect">
            <a:avLst/>
          </a:prstGeom>
          <a:noFill/>
          <a:ln>
            <a:noFill/>
          </a:ln>
        </p:spPr>
      </p:pic>
      <p:pic>
        <p:nvPicPr>
          <p:cNvPr id="178" name="Google Shape;178;p25" descr="Piece of duct tape sticking a note to the slide"/>
          <p:cNvPicPr preferRelativeResize="0"/>
          <p:nvPr/>
        </p:nvPicPr>
        <p:blipFill rotWithShape="1">
          <a:blip r:embed="rId4">
            <a:alphaModFix/>
          </a:blip>
          <a:srcRect l="9244" t="5926" r="2118" b="10011"/>
          <a:stretch/>
        </p:blipFill>
        <p:spPr>
          <a:xfrm rot="154820">
            <a:off x="7168640" y="1468875"/>
            <a:ext cx="869617" cy="542249"/>
          </a:xfrm>
          <a:prstGeom prst="rect">
            <a:avLst/>
          </a:prstGeom>
          <a:noFill/>
          <a:ln>
            <a:noFill/>
          </a:ln>
        </p:spPr>
      </p:pic>
      <p:pic>
        <p:nvPicPr>
          <p:cNvPr id="179" name="Google Shape;179;p25"/>
          <p:cNvPicPr preferRelativeResize="0"/>
          <p:nvPr/>
        </p:nvPicPr>
        <p:blipFill>
          <a:blip r:embed="rId5">
            <a:alphaModFix/>
          </a:blip>
          <a:stretch>
            <a:fillRect/>
          </a:stretch>
        </p:blipFill>
        <p:spPr>
          <a:xfrm>
            <a:off x="97500" y="547001"/>
            <a:ext cx="6231975" cy="2781125"/>
          </a:xfrm>
          <a:prstGeom prst="rect">
            <a:avLst/>
          </a:prstGeom>
          <a:noFill/>
          <a:ln>
            <a:noFill/>
          </a:ln>
        </p:spPr>
      </p:pic>
      <p:sp>
        <p:nvSpPr>
          <p:cNvPr id="180" name="Google Shape;180;p25"/>
          <p:cNvSpPr/>
          <p:nvPr/>
        </p:nvSpPr>
        <p:spPr>
          <a:xfrm>
            <a:off x="6065900" y="859300"/>
            <a:ext cx="1224600" cy="427800"/>
          </a:xfrm>
          <a:prstGeom prst="leftArrow">
            <a:avLst>
              <a:gd name="adj1" fmla="val 50000"/>
              <a:gd name="adj2" fmla="val 50000"/>
            </a:avLst>
          </a:prstGeom>
          <a:solidFill>
            <a:srgbClr val="E0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81" name="Google Shape;181;p25"/>
          <p:cNvSpPr txBox="1"/>
          <p:nvPr/>
        </p:nvSpPr>
        <p:spPr>
          <a:xfrm>
            <a:off x="6704675" y="2030425"/>
            <a:ext cx="1710900" cy="135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2"/>
                </a:solidFill>
                <a:latin typeface="Raleway"/>
                <a:ea typeface="Raleway"/>
                <a:cs typeface="Raleway"/>
                <a:sym typeface="Raleway"/>
              </a:rPr>
              <a:t>Yara’s review was added in the database in the reviews table</a:t>
            </a:r>
            <a:endParaRPr sz="1500">
              <a:solidFill>
                <a:schemeClr val="dk2"/>
              </a:solidFill>
              <a:latin typeface="Raleway"/>
              <a:ea typeface="Raleway"/>
              <a:cs typeface="Raleway"/>
              <a:sym typeface="Raleway"/>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Shape 185"/>
        <p:cNvGrpSpPr/>
        <p:nvPr/>
      </p:nvGrpSpPr>
      <p:grpSpPr>
        <a:xfrm>
          <a:off x="0" y="0"/>
          <a:ext cx="0" cy="0"/>
          <a:chOff x="0" y="0"/>
          <a:chExt cx="0" cy="0"/>
        </a:xfrm>
      </p:grpSpPr>
      <p:sp>
        <p:nvSpPr>
          <p:cNvPr id="186" name="Google Shape;186;p26"/>
          <p:cNvSpPr txBox="1"/>
          <p:nvPr/>
        </p:nvSpPr>
        <p:spPr>
          <a:xfrm>
            <a:off x="5283825" y="990325"/>
            <a:ext cx="3599400" cy="48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a:solidFill>
                  <a:schemeClr val="dk2"/>
                </a:solidFill>
                <a:latin typeface="Roboto"/>
                <a:ea typeface="Roboto"/>
                <a:cs typeface="Roboto"/>
                <a:sym typeface="Roboto"/>
              </a:rPr>
              <a:t>DELETING A REVIEW</a:t>
            </a:r>
            <a:endParaRPr sz="2800">
              <a:solidFill>
                <a:schemeClr val="dk2"/>
              </a:solidFill>
              <a:latin typeface="Roboto"/>
              <a:ea typeface="Roboto"/>
              <a:cs typeface="Roboto"/>
              <a:sym typeface="Roboto"/>
            </a:endParaRPr>
          </a:p>
        </p:txBody>
      </p:sp>
      <p:pic>
        <p:nvPicPr>
          <p:cNvPr id="187" name="Google Shape;187;p26"/>
          <p:cNvPicPr preferRelativeResize="0"/>
          <p:nvPr/>
        </p:nvPicPr>
        <p:blipFill>
          <a:blip r:embed="rId3">
            <a:alphaModFix/>
          </a:blip>
          <a:stretch>
            <a:fillRect/>
          </a:stretch>
        </p:blipFill>
        <p:spPr>
          <a:xfrm>
            <a:off x="152400" y="152400"/>
            <a:ext cx="4866601" cy="1850972"/>
          </a:xfrm>
          <a:prstGeom prst="rect">
            <a:avLst/>
          </a:prstGeom>
          <a:noFill/>
          <a:ln>
            <a:noFill/>
          </a:ln>
        </p:spPr>
      </p:pic>
      <p:pic>
        <p:nvPicPr>
          <p:cNvPr id="188" name="Google Shape;188;p26"/>
          <p:cNvPicPr preferRelativeResize="0"/>
          <p:nvPr/>
        </p:nvPicPr>
        <p:blipFill>
          <a:blip r:embed="rId4">
            <a:alphaModFix/>
          </a:blip>
          <a:stretch>
            <a:fillRect/>
          </a:stretch>
        </p:blipFill>
        <p:spPr>
          <a:xfrm>
            <a:off x="152400" y="2231875"/>
            <a:ext cx="4866600" cy="2382250"/>
          </a:xfrm>
          <a:prstGeom prst="rect">
            <a:avLst/>
          </a:prstGeom>
          <a:noFill/>
          <a:ln>
            <a:noFill/>
          </a:ln>
        </p:spPr>
      </p:pic>
      <p:sp>
        <p:nvSpPr>
          <p:cNvPr id="189" name="Google Shape;189;p26"/>
          <p:cNvSpPr txBox="1"/>
          <p:nvPr/>
        </p:nvSpPr>
        <p:spPr>
          <a:xfrm>
            <a:off x="5283825" y="2231875"/>
            <a:ext cx="3140100" cy="220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Raleway"/>
                <a:ea typeface="Raleway"/>
                <a:cs typeface="Raleway"/>
                <a:sym typeface="Raleway"/>
              </a:rPr>
              <a:t>We used JavaScript to prompt the user with a confirmation message when they click "Delete Review." This ensures that they are asked for confirmation before the review is permanently deleted, providing an extra layer of caution to avoid accidental deletions.</a:t>
            </a:r>
            <a:endParaRPr sz="2100">
              <a:latin typeface="Raleway"/>
              <a:ea typeface="Raleway"/>
              <a:cs typeface="Raleway"/>
              <a:sym typeface="Raleway"/>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Shape 193"/>
        <p:cNvGrpSpPr/>
        <p:nvPr/>
      </p:nvGrpSpPr>
      <p:grpSpPr>
        <a:xfrm>
          <a:off x="0" y="0"/>
          <a:ext cx="0" cy="0"/>
          <a:chOff x="0" y="0"/>
          <a:chExt cx="0" cy="0"/>
        </a:xfrm>
      </p:grpSpPr>
      <p:sp>
        <p:nvSpPr>
          <p:cNvPr id="194" name="Google Shape;194;p27"/>
          <p:cNvSpPr txBox="1"/>
          <p:nvPr/>
        </p:nvSpPr>
        <p:spPr>
          <a:xfrm>
            <a:off x="261213" y="3739238"/>
            <a:ext cx="3840300" cy="40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a:solidFill>
                  <a:srgbClr val="37474F"/>
                </a:solidFill>
                <a:latin typeface="Roboto"/>
                <a:ea typeface="Roboto"/>
                <a:cs typeface="Roboto"/>
                <a:sym typeface="Roboto"/>
              </a:rPr>
              <a:t>UPDATING A REVIEW</a:t>
            </a:r>
            <a:endParaRPr sz="2800">
              <a:solidFill>
                <a:srgbClr val="37474F"/>
              </a:solidFill>
              <a:latin typeface="Roboto"/>
              <a:ea typeface="Roboto"/>
              <a:cs typeface="Roboto"/>
              <a:sym typeface="Roboto"/>
            </a:endParaRPr>
          </a:p>
        </p:txBody>
      </p:sp>
      <p:pic>
        <p:nvPicPr>
          <p:cNvPr id="195" name="Google Shape;195;p27"/>
          <p:cNvPicPr preferRelativeResize="0"/>
          <p:nvPr/>
        </p:nvPicPr>
        <p:blipFill>
          <a:blip r:embed="rId3">
            <a:alphaModFix/>
          </a:blip>
          <a:stretch>
            <a:fillRect/>
          </a:stretch>
        </p:blipFill>
        <p:spPr>
          <a:xfrm>
            <a:off x="152400" y="152400"/>
            <a:ext cx="4057926" cy="3262350"/>
          </a:xfrm>
          <a:prstGeom prst="rect">
            <a:avLst/>
          </a:prstGeom>
          <a:noFill/>
          <a:ln>
            <a:noFill/>
          </a:ln>
        </p:spPr>
      </p:pic>
      <p:pic>
        <p:nvPicPr>
          <p:cNvPr id="196" name="Google Shape;196;p27"/>
          <p:cNvPicPr preferRelativeResize="0"/>
          <p:nvPr/>
        </p:nvPicPr>
        <p:blipFill>
          <a:blip r:embed="rId4">
            <a:alphaModFix/>
          </a:blip>
          <a:stretch>
            <a:fillRect/>
          </a:stretch>
        </p:blipFill>
        <p:spPr>
          <a:xfrm>
            <a:off x="4362725" y="152400"/>
            <a:ext cx="4491655" cy="3262349"/>
          </a:xfrm>
          <a:prstGeom prst="rect">
            <a:avLst/>
          </a:prstGeom>
          <a:noFill/>
          <a:ln>
            <a:noFill/>
          </a:ln>
        </p:spPr>
      </p:pic>
      <p:pic>
        <p:nvPicPr>
          <p:cNvPr id="197" name="Google Shape;197;p27"/>
          <p:cNvPicPr preferRelativeResize="0"/>
          <p:nvPr/>
        </p:nvPicPr>
        <p:blipFill>
          <a:blip r:embed="rId5">
            <a:alphaModFix/>
          </a:blip>
          <a:stretch>
            <a:fillRect/>
          </a:stretch>
        </p:blipFill>
        <p:spPr>
          <a:xfrm>
            <a:off x="4160950" y="3598850"/>
            <a:ext cx="4586701" cy="1006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01"/>
        <p:cNvGrpSpPr/>
        <p:nvPr/>
      </p:nvGrpSpPr>
      <p:grpSpPr>
        <a:xfrm>
          <a:off x="0" y="0"/>
          <a:ext cx="0" cy="0"/>
          <a:chOff x="0" y="0"/>
          <a:chExt cx="0" cy="0"/>
        </a:xfrm>
      </p:grpSpPr>
      <p:pic>
        <p:nvPicPr>
          <p:cNvPr id="202" name="Google Shape;202;p28"/>
          <p:cNvPicPr preferRelativeResize="0"/>
          <p:nvPr/>
        </p:nvPicPr>
        <p:blipFill>
          <a:blip r:embed="rId3">
            <a:alphaModFix/>
          </a:blip>
          <a:stretch>
            <a:fillRect/>
          </a:stretch>
        </p:blipFill>
        <p:spPr>
          <a:xfrm>
            <a:off x="0" y="2697450"/>
            <a:ext cx="4268624" cy="2059450"/>
          </a:xfrm>
          <a:prstGeom prst="rect">
            <a:avLst/>
          </a:prstGeom>
          <a:noFill/>
          <a:ln>
            <a:noFill/>
          </a:ln>
        </p:spPr>
      </p:pic>
      <p:pic>
        <p:nvPicPr>
          <p:cNvPr id="203" name="Google Shape;203;p28"/>
          <p:cNvPicPr preferRelativeResize="0"/>
          <p:nvPr/>
        </p:nvPicPr>
        <p:blipFill rotWithShape="1">
          <a:blip r:embed="rId4">
            <a:alphaModFix/>
          </a:blip>
          <a:srcRect t="6539" b="-6540"/>
          <a:stretch/>
        </p:blipFill>
        <p:spPr>
          <a:xfrm>
            <a:off x="4427750" y="2697450"/>
            <a:ext cx="4716250" cy="2176500"/>
          </a:xfrm>
          <a:prstGeom prst="rect">
            <a:avLst/>
          </a:prstGeom>
          <a:noFill/>
          <a:ln>
            <a:noFill/>
          </a:ln>
        </p:spPr>
      </p:pic>
      <p:sp>
        <p:nvSpPr>
          <p:cNvPr id="204" name="Google Shape;204;p28"/>
          <p:cNvSpPr txBox="1"/>
          <p:nvPr/>
        </p:nvSpPr>
        <p:spPr>
          <a:xfrm>
            <a:off x="5016925" y="577725"/>
            <a:ext cx="39975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a:solidFill>
                  <a:srgbClr val="FFFFFF"/>
                </a:solidFill>
                <a:latin typeface="Roboto"/>
                <a:ea typeface="Roboto"/>
                <a:cs typeface="Roboto"/>
                <a:sym typeface="Roboto"/>
              </a:rPr>
              <a:t>DATABASE TABLES</a:t>
            </a:r>
            <a:endParaRPr sz="2800">
              <a:solidFill>
                <a:srgbClr val="FFFFFF"/>
              </a:solidFill>
              <a:latin typeface="Roboto"/>
              <a:ea typeface="Roboto"/>
              <a:cs typeface="Roboto"/>
              <a:sym typeface="Roboto"/>
            </a:endParaRPr>
          </a:p>
        </p:txBody>
      </p:sp>
      <p:pic>
        <p:nvPicPr>
          <p:cNvPr id="205" name="Google Shape;205;p28"/>
          <p:cNvPicPr preferRelativeResize="0"/>
          <p:nvPr/>
        </p:nvPicPr>
        <p:blipFill>
          <a:blip r:embed="rId5">
            <a:alphaModFix/>
          </a:blip>
          <a:stretch>
            <a:fillRect/>
          </a:stretch>
        </p:blipFill>
        <p:spPr>
          <a:xfrm>
            <a:off x="0" y="133775"/>
            <a:ext cx="4852926" cy="2059450"/>
          </a:xfrm>
          <a:prstGeom prst="rect">
            <a:avLst/>
          </a:prstGeom>
          <a:noFill/>
          <a:ln>
            <a:noFill/>
          </a:ln>
        </p:spPr>
      </p:pic>
      <p:sp>
        <p:nvSpPr>
          <p:cNvPr id="206" name="Google Shape;206;p28"/>
          <p:cNvSpPr/>
          <p:nvPr/>
        </p:nvSpPr>
        <p:spPr>
          <a:xfrm>
            <a:off x="3531875" y="1912075"/>
            <a:ext cx="1526100" cy="365700"/>
          </a:xfrm>
          <a:prstGeom prst="rightArrow">
            <a:avLst>
              <a:gd name="adj1" fmla="val 50000"/>
              <a:gd name="adj2" fmla="val 50000"/>
            </a:avLst>
          </a:prstGeom>
          <a:solidFill>
            <a:srgbClr val="E0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07" name="Google Shape;207;p28"/>
          <p:cNvSpPr txBox="1"/>
          <p:nvPr/>
        </p:nvSpPr>
        <p:spPr>
          <a:xfrm>
            <a:off x="5117875" y="1671375"/>
            <a:ext cx="3795600" cy="77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ECECEC"/>
                </a:solidFill>
                <a:latin typeface="Raleway"/>
                <a:ea typeface="Raleway"/>
                <a:cs typeface="Raleway"/>
                <a:sym typeface="Raleway"/>
              </a:rPr>
              <a:t>All passwords are securely stored as SHA1 hashes to enhance data protection and ensure the privacy of user credentials.</a:t>
            </a:r>
            <a:endParaRPr>
              <a:solidFill>
                <a:srgbClr val="ECECEC"/>
              </a:solidFill>
              <a:latin typeface="Raleway"/>
              <a:ea typeface="Raleway"/>
              <a:cs typeface="Raleway"/>
              <a:sym typeface="Raleway"/>
            </a:endParaRPr>
          </a:p>
          <a:p>
            <a:pPr marL="0" lvl="0" indent="0" algn="l" rtl="0">
              <a:spcBef>
                <a:spcPts val="0"/>
              </a:spcBef>
              <a:spcAft>
                <a:spcPts val="0"/>
              </a:spcAft>
              <a:buNone/>
            </a:pPr>
            <a:endParaRPr sz="1500">
              <a:solidFill>
                <a:srgbClr val="FFFFFF"/>
              </a:solidFill>
              <a:latin typeface="Raleway"/>
              <a:ea typeface="Raleway"/>
              <a:cs typeface="Raleway"/>
              <a:sym typeface="Raleway"/>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Shape 211"/>
        <p:cNvGrpSpPr/>
        <p:nvPr/>
      </p:nvGrpSpPr>
      <p:grpSpPr>
        <a:xfrm>
          <a:off x="0" y="0"/>
          <a:ext cx="0" cy="0"/>
          <a:chOff x="0" y="0"/>
          <a:chExt cx="0" cy="0"/>
        </a:xfrm>
      </p:grpSpPr>
      <p:pic>
        <p:nvPicPr>
          <p:cNvPr id="212" name="Google Shape;212;p29"/>
          <p:cNvPicPr preferRelativeResize="0"/>
          <p:nvPr/>
        </p:nvPicPr>
        <p:blipFill>
          <a:blip r:embed="rId3">
            <a:alphaModFix/>
          </a:blip>
          <a:stretch>
            <a:fillRect/>
          </a:stretch>
        </p:blipFill>
        <p:spPr>
          <a:xfrm>
            <a:off x="743925" y="152400"/>
            <a:ext cx="3828086" cy="4838701"/>
          </a:xfrm>
          <a:prstGeom prst="rect">
            <a:avLst/>
          </a:prstGeom>
          <a:noFill/>
          <a:ln>
            <a:noFill/>
          </a:ln>
        </p:spPr>
      </p:pic>
      <p:sp>
        <p:nvSpPr>
          <p:cNvPr id="213" name="Google Shape;213;p29"/>
          <p:cNvSpPr txBox="1"/>
          <p:nvPr/>
        </p:nvSpPr>
        <p:spPr>
          <a:xfrm>
            <a:off x="5080000" y="678992"/>
            <a:ext cx="3014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latin typeface="Roboto"/>
              <a:ea typeface="Roboto"/>
              <a:cs typeface="Roboto"/>
              <a:sym typeface="Roboto"/>
            </a:endParaRPr>
          </a:p>
        </p:txBody>
      </p:sp>
      <p:pic>
        <p:nvPicPr>
          <p:cNvPr id="214" name="Google Shape;214;p29"/>
          <p:cNvPicPr preferRelativeResize="0"/>
          <p:nvPr/>
        </p:nvPicPr>
        <p:blipFill>
          <a:blip r:embed="rId4">
            <a:alphaModFix/>
          </a:blip>
          <a:stretch>
            <a:fillRect/>
          </a:stretch>
        </p:blipFill>
        <p:spPr>
          <a:xfrm>
            <a:off x="4955250" y="455101"/>
            <a:ext cx="3588876" cy="2699774"/>
          </a:xfrm>
          <a:prstGeom prst="rect">
            <a:avLst/>
          </a:prstGeom>
          <a:noFill/>
          <a:ln>
            <a:noFill/>
          </a:ln>
        </p:spPr>
      </p:pic>
      <p:sp>
        <p:nvSpPr>
          <p:cNvPr id="215" name="Google Shape;215;p29"/>
          <p:cNvSpPr txBox="1"/>
          <p:nvPr/>
        </p:nvSpPr>
        <p:spPr>
          <a:xfrm>
            <a:off x="5156125" y="787100"/>
            <a:ext cx="3150900" cy="203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2"/>
                </a:solidFill>
                <a:latin typeface="Raleway"/>
                <a:ea typeface="Raleway"/>
                <a:cs typeface="Raleway"/>
                <a:sym typeface="Raleway"/>
              </a:rPr>
              <a:t>The "About Us" page introduces our website , featuring a clear layout that highlights our offerings and unique qualities. A "Read More" button, implemented using javascript, allows users to expand and read additional details seamlessly. </a:t>
            </a:r>
            <a:endParaRPr sz="1500">
              <a:solidFill>
                <a:schemeClr val="dk2"/>
              </a:solidFill>
              <a:latin typeface="Raleway"/>
              <a:ea typeface="Raleway"/>
              <a:cs typeface="Raleway"/>
              <a:sym typeface="Raleway"/>
            </a:endParaRPr>
          </a:p>
        </p:txBody>
      </p:sp>
      <p:pic>
        <p:nvPicPr>
          <p:cNvPr id="216" name="Google Shape;216;p29" descr="Piece of duct tape sticking a note to the slide"/>
          <p:cNvPicPr preferRelativeResize="0"/>
          <p:nvPr/>
        </p:nvPicPr>
        <p:blipFill rotWithShape="1">
          <a:blip r:embed="rId5">
            <a:alphaModFix/>
          </a:blip>
          <a:srcRect l="9244" t="5926" r="2118" b="10011"/>
          <a:stretch/>
        </p:blipFill>
        <p:spPr>
          <a:xfrm rot="154826">
            <a:off x="6146801" y="333235"/>
            <a:ext cx="1077273" cy="38268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0"/>
          <p:cNvSpPr txBox="1">
            <a:spLocks noGrp="1"/>
          </p:cNvSpPr>
          <p:nvPr>
            <p:ph type="body" idx="2"/>
          </p:nvPr>
        </p:nvSpPr>
        <p:spPr>
          <a:xfrm>
            <a:off x="4886175" y="398575"/>
            <a:ext cx="3908400" cy="2501100"/>
          </a:xfrm>
          <a:prstGeom prst="rect">
            <a:avLst/>
          </a:prstGeom>
        </p:spPr>
        <p:txBody>
          <a:bodyPr spcFirstLastPara="1" wrap="square" lIns="91425" tIns="91425" rIns="91425" bIns="91425" anchor="ctr" anchorCtr="0">
            <a:noAutofit/>
          </a:bodyPr>
          <a:lstStyle/>
          <a:p>
            <a:pPr marL="0" lvl="0" indent="0" algn="l" rtl="0">
              <a:lnSpc>
                <a:spcPct val="95000"/>
              </a:lnSpc>
              <a:spcBef>
                <a:spcPts val="0"/>
              </a:spcBef>
              <a:spcAft>
                <a:spcPts val="1200"/>
              </a:spcAft>
              <a:buSzPts val="770"/>
              <a:buNone/>
            </a:pPr>
            <a:r>
              <a:rPr lang="en" sz="1500">
                <a:latin typeface="Raleway"/>
                <a:ea typeface="Raleway"/>
                <a:cs typeface="Raleway"/>
                <a:sym typeface="Raleway"/>
              </a:rPr>
              <a:t>The "Contact Us" page provides users with multiple ways to reach out for assistance. It features a prominent contact section with phone numbers for direct calls and an email address for inquiries. Additionally, users can fill out a message form, which includes input validation, implemented using javascript, to ensure all required fields are completed accurately.</a:t>
            </a:r>
            <a:endParaRPr sz="1500">
              <a:latin typeface="Raleway"/>
              <a:ea typeface="Raleway"/>
              <a:cs typeface="Raleway"/>
              <a:sym typeface="Raleway"/>
            </a:endParaRPr>
          </a:p>
        </p:txBody>
      </p:sp>
      <p:pic>
        <p:nvPicPr>
          <p:cNvPr id="222" name="Google Shape;222;p30"/>
          <p:cNvPicPr preferRelativeResize="0"/>
          <p:nvPr/>
        </p:nvPicPr>
        <p:blipFill>
          <a:blip r:embed="rId3">
            <a:alphaModFix/>
          </a:blip>
          <a:stretch>
            <a:fillRect/>
          </a:stretch>
        </p:blipFill>
        <p:spPr>
          <a:xfrm>
            <a:off x="632152" y="134312"/>
            <a:ext cx="3463901" cy="4874874"/>
          </a:xfrm>
          <a:prstGeom prst="rect">
            <a:avLst/>
          </a:prstGeom>
          <a:noFill/>
          <a:ln>
            <a:noFill/>
          </a:ln>
        </p:spPr>
      </p:pic>
      <p:pic>
        <p:nvPicPr>
          <p:cNvPr id="223" name="Google Shape;223;p30"/>
          <p:cNvPicPr preferRelativeResize="0"/>
          <p:nvPr/>
        </p:nvPicPr>
        <p:blipFill>
          <a:blip r:embed="rId4">
            <a:alphaModFix/>
          </a:blip>
          <a:stretch>
            <a:fillRect/>
          </a:stretch>
        </p:blipFill>
        <p:spPr>
          <a:xfrm>
            <a:off x="4886175" y="3111575"/>
            <a:ext cx="3824275" cy="14364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27"/>
        <p:cNvGrpSpPr/>
        <p:nvPr/>
      </p:nvGrpSpPr>
      <p:grpSpPr>
        <a:xfrm>
          <a:off x="0" y="0"/>
          <a:ext cx="0" cy="0"/>
          <a:chOff x="0" y="0"/>
          <a:chExt cx="0" cy="0"/>
        </a:xfrm>
      </p:grpSpPr>
      <p:pic>
        <p:nvPicPr>
          <p:cNvPr id="228" name="Google Shape;228;p31"/>
          <p:cNvPicPr preferRelativeResize="0"/>
          <p:nvPr/>
        </p:nvPicPr>
        <p:blipFill>
          <a:blip r:embed="rId3">
            <a:alphaModFix/>
          </a:blip>
          <a:stretch>
            <a:fillRect/>
          </a:stretch>
        </p:blipFill>
        <p:spPr>
          <a:xfrm>
            <a:off x="798300" y="236975"/>
            <a:ext cx="7547400" cy="4538075"/>
          </a:xfrm>
          <a:prstGeom prst="rect">
            <a:avLst/>
          </a:prstGeom>
          <a:noFill/>
          <a:ln>
            <a:noFill/>
          </a:ln>
        </p:spPr>
      </p:pic>
      <p:pic>
        <p:nvPicPr>
          <p:cNvPr id="229" name="Google Shape;229;p31" descr="Piece of duct tape sticking a note to the slide"/>
          <p:cNvPicPr preferRelativeResize="0"/>
          <p:nvPr/>
        </p:nvPicPr>
        <p:blipFill rotWithShape="1">
          <a:blip r:embed="rId4">
            <a:alphaModFix/>
          </a:blip>
          <a:srcRect l="9244" t="5926" r="2118" b="10011"/>
          <a:stretch/>
        </p:blipFill>
        <p:spPr>
          <a:xfrm rot="154828">
            <a:off x="3471050" y="223101"/>
            <a:ext cx="2072000" cy="736050"/>
          </a:xfrm>
          <a:prstGeom prst="rect">
            <a:avLst/>
          </a:prstGeom>
          <a:noFill/>
          <a:ln>
            <a:noFill/>
          </a:ln>
        </p:spPr>
      </p:pic>
      <p:sp>
        <p:nvSpPr>
          <p:cNvPr id="230" name="Google Shape;230;p31"/>
          <p:cNvSpPr txBox="1"/>
          <p:nvPr/>
        </p:nvSpPr>
        <p:spPr>
          <a:xfrm>
            <a:off x="1372200" y="1369013"/>
            <a:ext cx="6269700" cy="227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5800">
                <a:solidFill>
                  <a:schemeClr val="dk2"/>
                </a:solidFill>
                <a:latin typeface="Raleway"/>
                <a:ea typeface="Raleway"/>
                <a:cs typeface="Raleway"/>
                <a:sym typeface="Raleway"/>
              </a:rPr>
              <a:t>THANK YOU FOR LISTENING</a:t>
            </a:r>
            <a:r>
              <a:rPr lang="en" sz="5500">
                <a:solidFill>
                  <a:schemeClr val="dk2"/>
                </a:solidFill>
                <a:latin typeface="Raleway"/>
                <a:ea typeface="Raleway"/>
                <a:cs typeface="Raleway"/>
                <a:sym typeface="Raleway"/>
              </a:rPr>
              <a:t> </a:t>
            </a:r>
            <a:endParaRPr sz="5500">
              <a:solidFill>
                <a:schemeClr val="dk2"/>
              </a:solidFill>
              <a:latin typeface="Raleway"/>
              <a:ea typeface="Raleway"/>
              <a:cs typeface="Raleway"/>
              <a:sym typeface="Raleway"/>
            </a:endParaRPr>
          </a:p>
        </p:txBody>
      </p:sp>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620</Words>
  <Application>Microsoft Office PowerPoint</Application>
  <PresentationFormat>On-screen Show (16:9)</PresentationFormat>
  <Paragraphs>31</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Lato</vt:lpstr>
      <vt:lpstr>Arial</vt:lpstr>
      <vt:lpstr>Raleway</vt:lpstr>
      <vt:lpstr>Roboto</vt:lpstr>
      <vt:lpstr>Geometric</vt:lpstr>
      <vt:lpstr>On the Go</vt:lpstr>
      <vt:lpstr>Website Idea</vt:lpstr>
      <vt:lpstr>PowerPoint Presentation</vt:lpstr>
      <vt:lpstr>PowerPoint Presentation</vt:lpstr>
      <vt:lpstr>PowerPoint Presentation</vt:lpstr>
      <vt:lpstr>The Google Translate app can repeat anything you say in up to NINETY LANGUAGES from German and Japanese  to Czech and Zulu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dana mounayer</cp:lastModifiedBy>
  <cp:revision>1</cp:revision>
  <dcterms:modified xsi:type="dcterms:W3CDTF">2024-11-29T00:13:50Z</dcterms:modified>
</cp:coreProperties>
</file>